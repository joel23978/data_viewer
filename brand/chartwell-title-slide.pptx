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50294" cy="6858000"/>
          </a:xfrm>
          <a:prstGeom prst="rect">
            <a:avLst/>
          </a:prstGeom>
          <a:solidFill>
            <a:srgbClr val="4F7EC9"/>
          </a:solidFill>
          <a:ln w="12700">
            <a:solidFill>
              <a:srgbClr val="4F7E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237743" y="256031"/>
            <a:ext cx="347473" cy="1"/>
          </a:xfrm>
          <a:prstGeom prst="line">
            <a:avLst/>
          </a:prstGeom>
          <a:ln w="5080">
            <a:solidFill>
              <a:srgbClr val="1E3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237743" y="393191"/>
            <a:ext cx="347473" cy="1"/>
          </a:xfrm>
          <a:prstGeom prst="line">
            <a:avLst/>
          </a:prstGeom>
          <a:ln w="5080">
            <a:solidFill>
              <a:srgbClr val="1E3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237743" y="530351"/>
            <a:ext cx="347473" cy="1"/>
          </a:xfrm>
          <a:prstGeom prst="line">
            <a:avLst/>
          </a:prstGeom>
          <a:ln w="5080">
            <a:solidFill>
              <a:srgbClr val="1E3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 flipH="1">
            <a:off x="237743" y="256031"/>
            <a:ext cx="1" cy="274321"/>
          </a:xfrm>
          <a:prstGeom prst="line">
            <a:avLst/>
          </a:prstGeom>
          <a:ln w="5080">
            <a:solidFill>
              <a:srgbClr val="1E3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237743" y="420623"/>
            <a:ext cx="86869" cy="109729"/>
          </a:xfrm>
          <a:prstGeom prst="rect">
            <a:avLst/>
          </a:prstGeom>
          <a:solidFill>
            <a:srgbClr val="1E3A6E">
              <a:alpha val="70000"/>
            </a:srgbClr>
          </a:solidFill>
          <a:ln w="12700">
            <a:solidFill>
              <a:srgbClr val="1E3A6E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324611" y="420623"/>
            <a:ext cx="79920" cy="109729"/>
          </a:xfrm>
          <a:prstGeom prst="rect">
            <a:avLst/>
          </a:prstGeom>
          <a:solidFill>
            <a:srgbClr val="1E3A6E">
              <a:alpha val="70000"/>
            </a:srgbClr>
          </a:solidFill>
          <a:ln w="12700">
            <a:solidFill>
              <a:srgbClr val="1E3A6E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404530" y="338327"/>
            <a:ext cx="83395" cy="192025"/>
          </a:xfrm>
          <a:prstGeom prst="rect">
            <a:avLst/>
          </a:prstGeom>
          <a:solidFill>
            <a:srgbClr val="1E3A6E">
              <a:alpha val="70000"/>
            </a:srgbClr>
          </a:solidFill>
          <a:ln w="12700">
            <a:solidFill>
              <a:srgbClr val="1E3A6E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487923" y="269747"/>
            <a:ext cx="79920" cy="260605"/>
          </a:xfrm>
          <a:prstGeom prst="rect">
            <a:avLst/>
          </a:prstGeom>
          <a:solidFill>
            <a:srgbClr val="1E3A6E">
              <a:alpha val="70000"/>
            </a:srgbClr>
          </a:solidFill>
          <a:ln w="12700">
            <a:solidFill>
              <a:srgbClr val="1E3A6E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 flipV="1">
            <a:off x="237743" y="420623"/>
            <a:ext cx="86869" cy="68581"/>
          </a:xfrm>
          <a:prstGeom prst="line">
            <a:avLst/>
          </a:prstGeom>
          <a:ln w="15240">
            <a:solidFill>
              <a:srgbClr val="4F7E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324611" y="420623"/>
            <a:ext cx="79920" cy="27433"/>
          </a:xfrm>
          <a:prstGeom prst="line">
            <a:avLst/>
          </a:prstGeom>
          <a:ln w="15240">
            <a:solidFill>
              <a:srgbClr val="4F7E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1"/>
          <p:cNvSpPr/>
          <p:nvPr/>
        </p:nvSpPr>
        <p:spPr>
          <a:xfrm flipV="1">
            <a:off x="404530" y="338328"/>
            <a:ext cx="83395" cy="109728"/>
          </a:xfrm>
          <a:prstGeom prst="line">
            <a:avLst/>
          </a:prstGeom>
          <a:ln w="15240">
            <a:solidFill>
              <a:srgbClr val="4F7E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2"/>
          <p:cNvSpPr/>
          <p:nvPr/>
        </p:nvSpPr>
        <p:spPr>
          <a:xfrm flipV="1">
            <a:off x="487923" y="269747"/>
            <a:ext cx="79920" cy="68581"/>
          </a:xfrm>
          <a:prstGeom prst="line">
            <a:avLst/>
          </a:prstGeom>
          <a:ln w="15240">
            <a:solidFill>
              <a:srgbClr val="4F7E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531266" y="233172"/>
            <a:ext cx="73153" cy="73153"/>
          </a:xfrm>
          <a:prstGeom prst="ellipse">
            <a:avLst/>
          </a:prstGeom>
          <a:solidFill>
            <a:srgbClr val="7AAEF5"/>
          </a:solidFill>
          <a:ln w="12700">
            <a:solidFill>
              <a:srgbClr val="7AAE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640079" y="241554"/>
            <a:ext cx="256032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Chartwell</a:t>
            </a:r>
          </a:p>
        </p:txBody>
      </p:sp>
      <p:sp>
        <p:nvSpPr>
          <p:cNvPr id="35" name="Text 15"/>
          <p:cNvSpPr txBox="1"/>
          <p:nvPr/>
        </p:nvSpPr>
        <p:spPr>
          <a:xfrm>
            <a:off x="649223" y="521715"/>
            <a:ext cx="2926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50" sz="600">
                <a:solidFill>
                  <a:srgbClr val="4F7EC9"/>
                </a:solidFill>
              </a:defRPr>
            </a:lvl1pPr>
          </a:lstStyle>
          <a:p>
            <a:pPr/>
            <a:r>
              <a:t>MACRO &amp; FINANCIAL CHARTS</a:t>
            </a:r>
          </a:p>
        </p:txBody>
      </p:sp>
      <p:sp>
        <p:nvSpPr>
          <p:cNvPr id="36" name="Shape 16"/>
          <p:cNvSpPr/>
          <p:nvPr/>
        </p:nvSpPr>
        <p:spPr>
          <a:xfrm>
            <a:off x="237744" y="932688"/>
            <a:ext cx="8668513" cy="1"/>
          </a:xfrm>
          <a:prstGeom prst="line">
            <a:avLst/>
          </a:prstGeom>
          <a:ln w="8890">
            <a:solidFill>
              <a:srgbClr val="1E3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7"/>
          <p:cNvSpPr txBox="1"/>
          <p:nvPr/>
        </p:nvSpPr>
        <p:spPr>
          <a:xfrm>
            <a:off x="237744" y="1245107"/>
            <a:ext cx="4480560" cy="175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Your Presentation Title</a:t>
            </a:r>
          </a:p>
        </p:txBody>
      </p:sp>
      <p:sp>
        <p:nvSpPr>
          <p:cNvPr id="38" name="Text 18"/>
          <p:cNvSpPr txBox="1"/>
          <p:nvPr/>
        </p:nvSpPr>
        <p:spPr>
          <a:xfrm>
            <a:off x="237743" y="4883404"/>
            <a:ext cx="731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700">
                <a:solidFill>
                  <a:srgbClr val="4F7EC9"/>
                </a:solidFill>
              </a:defRPr>
            </a:lvl1pPr>
          </a:lstStyle>
          <a:p>
            <a:pPr/>
            <a:r>
              <a:t>AUTHOR</a:t>
            </a:r>
          </a:p>
        </p:txBody>
      </p:sp>
      <p:sp>
        <p:nvSpPr>
          <p:cNvPr id="39" name="Text 19"/>
          <p:cNvSpPr txBox="1"/>
          <p:nvPr/>
        </p:nvSpPr>
        <p:spPr>
          <a:xfrm>
            <a:off x="1005839" y="4868471"/>
            <a:ext cx="347472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Your Name</a:t>
            </a:r>
          </a:p>
        </p:txBody>
      </p:sp>
      <p:sp>
        <p:nvSpPr>
          <p:cNvPr id="40" name="Text 20"/>
          <p:cNvSpPr txBox="1"/>
          <p:nvPr/>
        </p:nvSpPr>
        <p:spPr>
          <a:xfrm>
            <a:off x="237743" y="5267451"/>
            <a:ext cx="731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700">
                <a:solidFill>
                  <a:srgbClr val="4F7EC9"/>
                </a:solidFill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1" name="Text 21"/>
          <p:cNvSpPr txBox="1"/>
          <p:nvPr/>
        </p:nvSpPr>
        <p:spPr>
          <a:xfrm>
            <a:off x="1005839" y="5252519"/>
            <a:ext cx="347472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March 2026</a:t>
            </a:r>
          </a:p>
        </p:txBody>
      </p:sp>
      <p:sp>
        <p:nvSpPr>
          <p:cNvPr id="42" name="Text 22"/>
          <p:cNvSpPr txBox="1"/>
          <p:nvPr/>
        </p:nvSpPr>
        <p:spPr>
          <a:xfrm>
            <a:off x="6217920" y="6620764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pc="150" sz="700">
                <a:solidFill>
                  <a:srgbClr val="1E3A6E"/>
                </a:solidFill>
              </a:defRPr>
            </a:lvl1pPr>
          </a:lstStyle>
          <a:p>
            <a:pPr/>
            <a:r>
              <a:t>© CHARTWELL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